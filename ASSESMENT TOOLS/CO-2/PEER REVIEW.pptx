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2233A"/>
                </a:solidFill>
              </a:defRPr>
            </a:pPr>
            <a:r>
              <a:t>PRIORITY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5A6470"/>
                </a:solidFill>
              </a:defRPr>
            </a:pPr>
            <a:r>
              <a:t>Definition • Types • Max-Heap Example • Operations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520440" y="4160520"/>
            <a:ext cx="1188720" cy="73152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83480" y="4160520"/>
            <a:ext cx="822960" cy="73152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788920" y="5486400"/>
            <a:ext cx="731520" cy="64008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60" y="5486400"/>
            <a:ext cx="457200" cy="64008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434840" y="365760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48463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48463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2468880" y="5989320"/>
            <a:ext cx="658368" cy="658368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3977639" y="5989320"/>
            <a:ext cx="658368" cy="658368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1. What is a Priority Queue?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A data structure where removal is decided by priority.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Each element has a priority.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The highest-priority element is served first in a Max Priority Queue.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The lowest-priority element is served first in a Min Priority Queue.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It can be implemented efficiently using a heap.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8260"/>
                </a:solidFill>
              </a:defRPr>
            </a:pPr>
            <a:r>
              <a:t>HIGHER PRIORITY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2560320"/>
            <a:ext cx="731520" cy="73152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743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</a:defRPr>
            </a:pPr>
            <a:r>
              <a:t>1st</a:t>
            </a:r>
          </a:p>
        </p:txBody>
      </p:sp>
      <p:sp>
        <p:nvSpPr>
          <p:cNvPr id="9" name="Oval 8"/>
          <p:cNvSpPr/>
          <p:nvPr/>
        </p:nvSpPr>
        <p:spPr>
          <a:xfrm>
            <a:off x="8869680" y="356616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37490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</a:defRPr>
            </a:pPr>
            <a:r>
              <a:t>2nd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457200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4754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</a:defRPr>
            </a:pPr>
            <a:r>
              <a:t>3rd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2. Types of Priority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3017520"/>
          </a:xfrm>
          <a:prstGeom prst="roundRect">
            <a:avLst/>
          </a:prstGeom>
          <a:solidFill>
            <a:srgbClr val="EEF5FC"/>
          </a:solidFill>
          <a:ln>
            <a:solidFill>
              <a:srgbClr val="2C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MAX PRIORITY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>
                <a:solidFill>
                  <a:srgbClr val="12233A"/>
                </a:solidFill>
              </a:defRPr>
            </a:pPr>
            <a:r>
              <a:t>Highest value / priority</a:t>
            </a:r>
            <a:br/>
            <a:r>
              <a:t>removed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46320" cy="3017520"/>
          </a:xfrm>
          <a:prstGeom prst="roundRect">
            <a:avLst/>
          </a:prstGeom>
          <a:solidFill>
            <a:srgbClr val="EEF5FC"/>
          </a:solidFill>
          <a:ln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5B0"/>
                </a:solidFill>
              </a:defRPr>
            </a:pPr>
            <a:r>
              <a:t>MIN PRIORITY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>
                <a:solidFill>
                  <a:srgbClr val="12233A"/>
                </a:solidFill>
              </a:defRPr>
            </a:pPr>
            <a:r>
              <a:t>Lowest value / priority</a:t>
            </a:r>
            <a:br/>
            <a:r>
              <a:t>removed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3. Normal Queue vs Priority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5B0"/>
                </a:solidFill>
              </a:defRPr>
            </a:pPr>
            <a:r>
              <a:t>NORMAL QUEUE — FIFO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2331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2331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33A"/>
                </a:solidFill>
              </a:defRPr>
            </a:pPr>
            <a:r>
              <a:t>Removal →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MAX PRIORITY QUEUE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331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1" name="Oval 10"/>
          <p:cNvSpPr/>
          <p:nvPr/>
        </p:nvSpPr>
        <p:spPr>
          <a:xfrm>
            <a:off x="7543800" y="2331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2331720"/>
            <a:ext cx="731520" cy="73152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33A"/>
                </a:solidFill>
              </a:defRPr>
            </a:pPr>
            <a:r>
              <a:t>Removal →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4. Example — Build a Max-Heap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Insert random values one by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33A"/>
                </a:solidFill>
              </a:defRPr>
            </a:pPr>
            <a:r>
              <a:t>Insertion order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5420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6470"/>
                </a:solidFill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237744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420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6470"/>
                </a:solidFill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937760" y="237744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420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6470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37744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420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6470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0" y="237744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C8260"/>
                </a:solidFill>
              </a:defRPr>
            </a:pPr>
            <a:r>
              <a:t>Rule: Parent must always have higher priority than its children.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720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33A"/>
                </a:solidFill>
              </a:defRPr>
            </a:pPr>
            <a:r>
              <a:t>So the largest value moves toward the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5. Insert 40 — Step 1</a:t>
            </a:r>
          </a:p>
        </p:txBody>
      </p:sp>
      <p:sp>
        <p:nvSpPr>
          <p:cNvPr id="4" name="Oval 3"/>
          <p:cNvSpPr/>
          <p:nvPr/>
        </p:nvSpPr>
        <p:spPr>
          <a:xfrm>
            <a:off x="5623560" y="205740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233A"/>
                </a:solidFill>
              </a:defRPr>
            </a:pPr>
            <a:r>
              <a:t>First value → becomes the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0233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A6470"/>
                </a:solidFill>
              </a:defRPr>
            </a:pPr>
            <a:r>
              <a:t>No comparison is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6. Insert 20 — Step 2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709160" y="2743200"/>
            <a:ext cx="1234440" cy="12344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6" name="Oval 5"/>
          <p:cNvSpPr/>
          <p:nvPr/>
        </p:nvSpPr>
        <p:spPr>
          <a:xfrm>
            <a:off x="4343400" y="384048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2402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233A"/>
                </a:solidFill>
              </a:defRPr>
            </a:pPr>
            <a:r>
              <a:t>20 &lt;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8803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5A6470"/>
                </a:solidFill>
              </a:defRPr>
            </a:pPr>
            <a:r>
              <a:t>40 stays at the root.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7. Insert 60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60 has higher priority than 40.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70916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0" y="2743200"/>
            <a:ext cx="118872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574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8260"/>
                </a:solidFill>
              </a:defRPr>
            </a:pPr>
            <a:r>
              <a:t>60 &gt;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69748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3A"/>
                </a:solidFill>
              </a:defRPr>
            </a:pPr>
            <a:r>
              <a:t>Swap upward</a:t>
            </a:r>
            <a:br/>
            <a:r>
              <a:t>(Heapify Up)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8. After Heapify Up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70916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72200" y="2743200"/>
            <a:ext cx="118872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7" name="Oval 6"/>
          <p:cNvSpPr/>
          <p:nvPr/>
        </p:nvSpPr>
        <p:spPr>
          <a:xfrm>
            <a:off x="434340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574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8260"/>
                </a:solidFill>
              </a:defRPr>
            </a:pPr>
            <a:r>
              <a:t>60 is now 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7432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12233A"/>
                </a:solidFill>
              </a:defRPr>
            </a:pPr>
            <a:r>
              <a:t>Highest priority</a:t>
            </a:r>
            <a:br/>
            <a:r>
              <a:t>is always on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9. Insert 10 and 50 — Final Max-Heap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70916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72200" y="2743200"/>
            <a:ext cx="118872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703320" y="4434840"/>
            <a:ext cx="86868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4434840"/>
            <a:ext cx="54864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3A"/>
                </a:solidFill>
              </a:defRPr>
            </a:pPr>
            <a:r>
              <a:t>FINAL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5A6470"/>
                </a:solidFill>
              </a:defRPr>
            </a:pPr>
            <a:r>
              <a:t>60 &gt; 50, 40 &gt; 10,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9476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8260"/>
                </a:solidFill>
              </a:defRPr>
            </a:pPr>
            <a:r>
              <a:t>Root = 60</a:t>
            </a:r>
            <a:br/>
            <a:r>
              <a:t>Highest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10. Main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108960"/>
          </a:xfrm>
          <a:prstGeom prst="roundRect">
            <a:avLst/>
          </a:prstGeom>
          <a:solidFill>
            <a:srgbClr val="EEF5FC"/>
          </a:solidFill>
          <a:ln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5B0"/>
                </a:solidFill>
              </a:defRPr>
            </a:pPr>
            <a:r>
              <a:t>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12233A"/>
                </a:solidFill>
              </a:defRPr>
            </a:pPr>
            <a:r>
              <a:t>Add a new element</a:t>
            </a:r>
            <a:br/>
            <a:r>
              <a:t>and heapify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91840" cy="3108960"/>
          </a:xfrm>
          <a:prstGeom prst="roundRect">
            <a:avLst/>
          </a:prstGeom>
          <a:solidFill>
            <a:srgbClr val="EEF5FC"/>
          </a:solidFill>
          <a:ln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2240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5B0"/>
                </a:solidFill>
              </a:defRPr>
            </a:pPr>
            <a:r>
              <a:t>PEEK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632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12233A"/>
                </a:solidFill>
              </a:defRPr>
            </a:pPr>
            <a:r>
              <a:t>See the highest-</a:t>
            </a:r>
            <a:br/>
            <a:r>
              <a:t>priority element.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291840" cy="3108960"/>
          </a:xfrm>
          <a:prstGeom prst="roundRect">
            <a:avLst/>
          </a:prstGeom>
          <a:solidFill>
            <a:srgbClr val="EEF5FC"/>
          </a:solidFill>
          <a:ln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2240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5B0"/>
                </a:solidFill>
              </a:defRPr>
            </a:pPr>
            <a: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0632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12233A"/>
                </a:solidFill>
              </a:defRPr>
            </a:pPr>
            <a:r>
              <a:t>Remove the root</a:t>
            </a:r>
            <a:br/>
            <a:r>
              <a:t>and heapify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11. What Happens When We Delete?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33A"/>
                </a:solidFill>
              </a:defRPr>
            </a:pPr>
            <a:r>
              <a:t>Before deletion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331720" y="2743200"/>
            <a:ext cx="914400" cy="9144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29000" y="2743200"/>
            <a:ext cx="914400" cy="9144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834640" y="2011680"/>
            <a:ext cx="822960" cy="82296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3474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9" name="Oval 8"/>
          <p:cNvSpPr/>
          <p:nvPr/>
        </p:nvSpPr>
        <p:spPr>
          <a:xfrm>
            <a:off x="4023360" y="3474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346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5A6470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08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33A"/>
                </a:solidFill>
              </a:defRPr>
            </a:pPr>
            <a:r>
              <a:t>After deleting 60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321040" y="2743200"/>
            <a:ext cx="914400" cy="9144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8320" y="2743200"/>
            <a:ext cx="914400" cy="9144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823960" y="2011680"/>
            <a:ext cx="822960" cy="82296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3474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0" y="3474720"/>
            <a:ext cx="731520" cy="7315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75488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50 becomes the new highest priority.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12. Real-World Applications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960120" cy="9601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691639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2233A"/>
                </a:solidFill>
              </a:defRPr>
            </a:pPr>
            <a:r>
              <a:t>Process scheduling</a:t>
            </a:r>
          </a:p>
        </p:txBody>
      </p:sp>
      <p:sp>
        <p:nvSpPr>
          <p:cNvPr id="6" name="Oval 5"/>
          <p:cNvSpPr/>
          <p:nvPr/>
        </p:nvSpPr>
        <p:spPr>
          <a:xfrm>
            <a:off x="6309360" y="1554480"/>
            <a:ext cx="960120" cy="9601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691639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2233A"/>
                </a:solidFill>
              </a:defRPr>
            </a:pPr>
            <a:r>
              <a:t>Emergency priority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7600"/>
            <a:ext cx="960120" cy="9601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7947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2233A"/>
                </a:solidFill>
              </a:defRPr>
            </a:pPr>
            <a:r>
              <a:t>Packet handling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657600"/>
            <a:ext cx="960120" cy="96012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7947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2233A"/>
                </a:solidFill>
              </a:defRPr>
            </a:pPr>
            <a:r>
              <a:t>Dijkstra's algorithm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13.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Priority Queue → elements are processed according to priority.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Max Priority Queue → highest priority first.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Min Priority Queue → lowest priority first.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A heap keeps the highest/lowest priority element at the root.</a:t>
            </a:r>
          </a:p>
          <a:p>
            <a:pPr>
              <a:spcAft>
                <a:spcPts val="1400"/>
              </a:spcAft>
              <a:defRPr sz="2100">
                <a:solidFill>
                  <a:srgbClr val="12233A"/>
                </a:solidFill>
              </a:defRPr>
            </a:pPr>
            <a:r>
              <a:t>In our example: 40 → 20 → 60 → 10 → 50, final root = 60.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71500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8260"/>
                </a:solidFill>
              </a:defRPr>
            </a:pPr>
            <a:r>
              <a:t>Priority decides WHAT comes out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14. Min-Heap — Lowest Priority at the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A Min-Heap keeps the smallest value above its children.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3A"/>
                </a:solidFill>
              </a:defRPr>
            </a:pPr>
            <a:r>
              <a:t>Same insertion values: 40 → 20 → 60 → 10 → 50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66344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7220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703320" y="4434840"/>
            <a:ext cx="86868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46320" y="4434840"/>
            <a:ext cx="54864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C8260"/>
                </a:solidFill>
              </a:defRPr>
            </a:pPr>
            <a:r>
              <a:t>MIN-HEAP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432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33A"/>
                </a:solidFill>
              </a:defRPr>
            </a:pPr>
            <a:r>
              <a:t>Parent ≤ children</a:t>
            </a:r>
            <a:br/>
            <a:r>
              <a:t>Smallest value = root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15. Min-Heap: Step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3A"/>
                </a:solidFill>
              </a:defRPr>
            </a:pPr>
            <a:r>
              <a:t>Insert 40</a:t>
            </a:r>
          </a:p>
        </p:txBody>
      </p:sp>
      <p:sp>
        <p:nvSpPr>
          <p:cNvPr id="5" name="Oval 4"/>
          <p:cNvSpPr/>
          <p:nvPr/>
        </p:nvSpPr>
        <p:spPr>
          <a:xfrm>
            <a:off x="246888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A6470"/>
                </a:solidFill>
              </a:defRPr>
            </a:pPr>
            <a:r>
              <a:t>First value →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3A"/>
                </a:solidFill>
              </a:defRPr>
            </a:pPr>
            <a:r>
              <a:t>Insert 20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315200" y="2743200"/>
            <a:ext cx="1097280" cy="10058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046720" y="2011680"/>
            <a:ext cx="914400" cy="914400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0" name="Oval 9"/>
          <p:cNvSpPr/>
          <p:nvPr/>
        </p:nvSpPr>
        <p:spPr>
          <a:xfrm>
            <a:off x="6995160" y="3657600"/>
            <a:ext cx="822960" cy="82296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20 &lt;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4320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3A"/>
                </a:solidFill>
              </a:defRPr>
            </a:pPr>
            <a:r>
              <a:t>Swap upward</a:t>
            </a:r>
            <a:br/>
            <a:r>
              <a:t>→ 20 becomes root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16. Min-Heap: Insert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60 is larger than the root, so no swap is needed.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66344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20 &lt; 40 and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8346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12233A"/>
                </a:solidFill>
              </a:defRPr>
            </a:pPr>
            <a:r>
              <a:t>Min-heap property</a:t>
            </a:r>
            <a:br/>
            <a:r>
              <a:t>is satisfied.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17. Min-Heap: Insert 10 and 50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66344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72200" y="2743200"/>
            <a:ext cx="1234440" cy="114300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703320" y="4434840"/>
            <a:ext cx="86868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4434840"/>
            <a:ext cx="548640" cy="100584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3703320"/>
            <a:ext cx="822960" cy="82296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5303520"/>
            <a:ext cx="713232" cy="713232"/>
          </a:xfrm>
          <a:prstGeom prst="ellipse">
            <a:avLst/>
          </a:prstGeom>
          <a:solidFill>
            <a:srgbClr val="DC82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8260"/>
                </a:solidFill>
              </a:defRPr>
            </a:pPr>
            <a:r>
              <a:t>10 moves to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65176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12233A"/>
                </a:solidFill>
              </a:defRPr>
            </a:pPr>
            <a:r>
              <a:t>10 is the smallest value.</a:t>
            </a:r>
            <a:br/>
            <a:r>
              <a:t>50 stays below 20.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</a:defRPr>
            </a:pPr>
            <a:r>
              <a:t>18. Max-Heap vs Min-Heap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0"/>
                </a:solidFill>
              </a:defRPr>
            </a:pPr>
            <a:r>
              <a:t>Both use the same tree structure, but the priority rule is opposite.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754880" cy="4114800"/>
          </a:xfrm>
          <a:prstGeom prst="roundRect">
            <a:avLst/>
          </a:prstGeom>
          <a:solidFill>
            <a:srgbClr val="EEF5FC"/>
          </a:solidFill>
          <a:ln>
            <a:solidFill>
              <a:srgbClr val="2C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8260"/>
                </a:solidFill>
              </a:defRPr>
            </a:pPr>
            <a:r>
              <a:t>MAX-HEAP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4754880" cy="4114800"/>
          </a:xfrm>
          <a:prstGeom prst="roundRect">
            <a:avLst/>
          </a:prstGeom>
          <a:solidFill>
            <a:srgbClr val="EEF5FC"/>
          </a:solidFill>
          <a:ln>
            <a:solidFill>
              <a:srgbClr val="2B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B65B0"/>
                </a:solidFill>
              </a:defRPr>
            </a:pPr>
            <a:r>
              <a:t>MIN-HEAP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68880" y="2971800"/>
            <a:ext cx="777240" cy="7772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74720" y="2971800"/>
            <a:ext cx="777240" cy="7772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34640" y="2194560"/>
            <a:ext cx="731520" cy="73152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2" name="Oval 11"/>
          <p:cNvSpPr/>
          <p:nvPr/>
        </p:nvSpPr>
        <p:spPr>
          <a:xfrm>
            <a:off x="2148840" y="3566160"/>
            <a:ext cx="640080" cy="64008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3" name="Oval 12"/>
          <p:cNvSpPr/>
          <p:nvPr/>
        </p:nvSpPr>
        <p:spPr>
          <a:xfrm>
            <a:off x="3977639" y="3566160"/>
            <a:ext cx="640080" cy="64008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233A"/>
                </a:solidFill>
              </a:defRPr>
            </a:pPr>
            <a:r>
              <a:t>Largest value comes first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955279" y="2971800"/>
            <a:ext cx="777241" cy="7772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971800"/>
            <a:ext cx="777240" cy="777239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21040" y="2194560"/>
            <a:ext cx="731520" cy="731520"/>
          </a:xfrm>
          <a:prstGeom prst="ellipse">
            <a:avLst/>
          </a:prstGeom>
          <a:solidFill>
            <a:srgbClr val="2C8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566160"/>
            <a:ext cx="640080" cy="64008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9" name="Oval 18"/>
          <p:cNvSpPr/>
          <p:nvPr/>
        </p:nvSpPr>
        <p:spPr>
          <a:xfrm>
            <a:off x="9464040" y="3566160"/>
            <a:ext cx="640080" cy="640080"/>
          </a:xfrm>
          <a:prstGeom prst="ellipse">
            <a:avLst/>
          </a:prstGeom>
          <a:solidFill>
            <a:srgbClr val="2B6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57200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233A"/>
                </a:solidFill>
              </a:defRPr>
            </a:pPr>
            <a:r>
              <a:t>Smallest value comes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Akilesh Waran</cp:lastModifiedBy>
  <cp:revision>2</cp:revision>
  <dcterms:created xsi:type="dcterms:W3CDTF">2013-01-27T09:14:16Z</dcterms:created>
  <dcterms:modified xsi:type="dcterms:W3CDTF">2026-08-13T18:01:30Z</dcterms:modified>
  <cp:category/>
</cp:coreProperties>
</file>